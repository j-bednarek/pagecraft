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Dzień dobry. Nazywam się Jakub Bednarek, a temat mojej pracy inżynierskiej to projekt systemu typu SaaS służącego do generowania stron internetowych typu one-page. Promotorem pracy jest dr inż. Michał Szermer. Chciałbym krótko przedstawić, czego dotyczy praca i na jakim etapie teraz jestem.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Najpierw powiem, jaki jest cel pracy i dlaczego wybrałem ten temat. Potem pokażę narzędzia i architekturę systemu, następnie to, co już udało mi się zrobić, a na koniec plan dalszych prac.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Celem pracy jest zaprojektowanie i wykonanie platformy SaaS, w której użytkownik może stworzyć i opublikować własną stronę typu one-page na podstawie gotowego szablonu. Zakres obejmuje pięć głównych funkcji. Pierwsza to autoryzacja, czyli zakładanie konta i logowanie. Druga to kreator: użytkownik wybiera szablon i przechodzi do edytora, w którym po lewej ma formularz z tekstami, linkami i zdjęciami, a po prawej podgląd strony, który zmienia się na bieżąco. Trzecia to zarządzanie mediami – zdjęcia trafiają do chmury Cloudinary, a w bazie zapisuję tylko linki do nich. Czwarta to personalizacja, czyli zmiana kolorów i czcionek szablonu. Ostatnia to publikacja: użytkownik rezerwuje własny adres, na przykład pagecraft.pl/kowalski, a strona staje się publiczna dopiero po opłaceniu subskrypcji.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Dlaczego taki temat? Wiele osób – małe firmy, freelancerzy, studenci – potrzebuje prostej strony, która pokaże ich ofertę albo portfolio i da możliwość kontaktu. Duże kreatory, takie jak Wix czy WordPress, mają bardzo dużo możliwości, ale przy tak prostej stronie to często więcej, niż trzeba, a konfiguracja zajmuje sporo czasu. Strona typu one-page, czyli wszystko na jednej przewijanej stronie, w zupełności tu wystarcza. Model SaaS oznacza, że użytkownik niczego nie instaluje, wszystko działa w przeglądarce, a płaci abonament. Dla mnie temat jest ciekawy, bo przechodzę przez cały proces tworzenia aplikacji: od interfejsu, przez serwer i bazę danych, aż po wdrożenie na serwer. Po prawej widać przykład strony zrobionej w moim kreatorze.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realizacji używam następujących narzędzi. Frontend, czyli interfejs i kreator, piszę w bibliotece React z narzędziem Vite. Backend to Node.js z frameworkiem Express – tam jest API i cała logika, na przykład sprawdzanie uprawnień. Dane przechowuję w bazie PostgreSQL, a do komunikacji z nią używam Prismy, czyli narzędzia typu ORM. Zdjęcia użytkowników będą przechowywane w Cloudinary. Aplikację planuję wdrożyć na serwerze VPS z Ubuntu, w kontenerach Dockera, z Nginxem jako reverse proxy, który obsłuży też certyfikat SSL. Kod trzymam w repozytorium na GitHubie.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 wygląda architektura systemu. Użytkownik korzysta z aplikacji w przeglądarce – to jest część napisana w React. Żądania trafiają do serwera API w Node.js, a na serwerze produkcyjnym będą przechodzić przez Nginxa. Serwer sprawdza, czy użytkownik jest zalogowany i czy ma prawo do danej strony, i dopiero wtedy odczytuje albo zapisuje dane w PostgreSQL. Cała konfiguracja strony – teksty, kolory, linki do zdjęć – jest zapisywana jako jeden obiekt JSON. Zdjęcia nie będą przechodzić przez mój serwer, tylko trafią bezpośrednio do Cloudinary. Nginx i Cloudinary są na razie zaplanowane, lokalnie aplikacja działa bez nich.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Teraz postępy. Po lewej jest to, co jest już gotowe: rejestracja i logowanie, panel konta, kreator z podglądem na żywo, pierwszy szablon z wyborem kolorów i czcionek, zapisywanie szkiców w bazie oraz API backendu. Po prawej to, co jeszcze przede mną: galeria szablonów, wgrywanie zdjęć, publikacja strony pod własnym adresem, płatności, wdrożenie na serwer oraz testy i dokumentacja. Na kolejnych slajdach pokażę gotowe części.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Pierwsza gotowa część to konta użytkowników. Logowanie i rejestracja są w okienku na stronie głównej. Hasła nie są przechowywane wprost – zapisuję tylko ich skrót zrobiony algorytmem bcrypt. Po zalogowaniu serwer tworzy sesję, którą trzyma w bazie danych, a przeglądarka dostaje tylko ciasteczko z jej identyfikatorem, niedostępne dla JavaScriptu. Dodałem też limit prób logowania, żeby utrudnić zgadywanie haseł. Po prawej jest panel konta: lista stron użytkownika z możliwością utworzenia, edycji i usunięcia strony, informacja o planie oraz ustawienia, czyli zmiana danych, e-maila, hasła i usunięcie konta.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Najważniejsza część projektu to kreator. Po lewej jest formularz, po prawej podgląd strony. Formularz nie jest pisany ręcznie dla każdego szablonu – każdy szablon ma opis swoich pól, a kreator na tej podstawie sam buduje formularz. Dzięki temu dodanie nowego szablonu nie wymaga zmian w kreatorze. Podgląd jest wyświetlany w osobnej ramce, żeby style aplikacji nie mieszały się ze stylami szablonu, a każda zmiana w formularzu od razu pojawia się na stronie. Można też przełączyć widok na telefon. Zmiany zapisują się same – sekundę po ostatniej edycji kreator wysyła je na serwer, a w górnym pasku widać, czy wszystko jest zapisane.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Od strony serwera mam gotową bazę danych z tabelami użytkowników, stron, szablonów, planów, subskrypcji i sesji. API jest podzielone na części: logowanie, konto, strony i strony publiczne. Każde żądanie dotyczące strony sprawdza, czy należy ona do zalogowanego użytkownika – jeśli nie, serwer odpowiada tak, jakby strona nie istniała. Dodatkowo jest limit liczby szkiców na jednego użytkownika.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 dalszych prac jest taki: najpierw galeria szablonów i kolejne szablony, potem wgrywanie zdjęć do Cloudinary, następnie publikacja strony pod własnym adresem i płatności za subskrypcję, prawdopodobnie przez Stripe. Na końcu wdrożenie aplikacji na serwer VPS z Dockerem i Nginxem oraz testy. Dokumentację pracy piszę na bieżąco, po każdym etapie.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 wszystko z mojej strony. Dziękuję za uwagę i chętnie odpowiem na pytania.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YTUL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SC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Jakub Bednarek – seminarium dyplomowe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Politechnika Łódzka</a:t>
            </a:r>
            <a:endParaRPr lang="en-US" sz="1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Seminarium dyplomowe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417320"/>
            <a:ext cx="76809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Projekt systemu typu SaaS (Software as a Service) służącego do generowania stron internetowych typu one-page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Design of a SaaS (Software as a Service) system for generating single-page websites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Autor: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Jakub Bednarek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Nr albumu: </a:t>
            </a:r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251125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370332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Promotor:</a:t>
            </a:r>
            <a:endParaRPr lang="en-US" sz="1600" dirty="0"/>
          </a:p>
          <a:p>
            <a:pPr algn="r"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dr inż. Michał Szermer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Łódź,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Agenda</a:t>
            </a:r>
            <a:endParaRPr lang="en-US" sz="3000" dirty="0"/>
          </a:p>
        </p:txBody>
      </p:sp>
      <p:sp>
        <p:nvSpPr>
          <p:cNvPr id="4" name="numer-1"/>
          <p:cNvSpPr/>
          <p:nvPr/>
        </p:nvSpPr>
        <p:spPr>
          <a:xfrm>
            <a:off x="1097280" y="123444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10972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783080" y="123444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Cel pracy</a:t>
            </a:r>
            <a:endParaRPr lang="en-US" sz="2200" dirty="0"/>
          </a:p>
        </p:txBody>
      </p:sp>
      <p:sp>
        <p:nvSpPr>
          <p:cNvPr id="7" name="numer-2"/>
          <p:cNvSpPr/>
          <p:nvPr/>
        </p:nvSpPr>
        <p:spPr>
          <a:xfrm>
            <a:off x="1097280" y="189280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09728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783080" y="18928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Uzasadnienie wyboru tematu</a:t>
            </a:r>
            <a:endParaRPr lang="en-US" sz="2200" dirty="0"/>
          </a:p>
        </p:txBody>
      </p:sp>
      <p:sp>
        <p:nvSpPr>
          <p:cNvPr id="10" name="numer-3"/>
          <p:cNvSpPr/>
          <p:nvPr/>
        </p:nvSpPr>
        <p:spPr>
          <a:xfrm>
            <a:off x="1097280" y="255117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97280" y="2551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1783080" y="2551176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Narzędzia i architektura</a:t>
            </a:r>
            <a:endParaRPr lang="en-US" sz="2200" dirty="0"/>
          </a:p>
        </p:txBody>
      </p:sp>
      <p:sp>
        <p:nvSpPr>
          <p:cNvPr id="13" name="numer-4"/>
          <p:cNvSpPr/>
          <p:nvPr/>
        </p:nvSpPr>
        <p:spPr>
          <a:xfrm>
            <a:off x="1097280" y="32095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97280" y="32095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1783080" y="320954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Postępy prac</a:t>
            </a:r>
            <a:endParaRPr lang="en-US" sz="2200" dirty="0"/>
          </a:p>
        </p:txBody>
      </p:sp>
      <p:sp>
        <p:nvSpPr>
          <p:cNvPr id="16" name="numer-5"/>
          <p:cNvSpPr/>
          <p:nvPr/>
        </p:nvSpPr>
        <p:spPr>
          <a:xfrm>
            <a:off x="1097280" y="386791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3867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1783080" y="3867912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chemeClr val="tx1"/>
                </a:solidFill>
              </a:rPr>
              <a:t>Plan dalszych prac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Cel pracy</a:t>
            </a:r>
            <a:endParaRPr lang="en-US" sz="3000" dirty="0"/>
          </a:p>
        </p:txBody>
      </p:sp>
      <p:sp>
        <p:nvSpPr>
          <p:cNvPr id="4" name="cel"/>
          <p:cNvSpPr/>
          <p:nvPr/>
        </p:nvSpPr>
        <p:spPr>
          <a:xfrm>
            <a:off x="457200" y="109728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85800" y="1097280"/>
            <a:ext cx="7772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Zaprojektowanie i wykonanie platformy SaaS, w której użytkownik może stworzyć i opublikować własną stronę typu one-page na podstawie gotowego szablonu.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103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Zakres pracy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54203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Autoryzacja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788920" y="254203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zakładanie konta i logowanie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9077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Kreator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2788920" y="290779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wybór szablonu, formularz po lewej, podgląd strony po prawej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27355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Zarządzanie mediami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2788920" y="327355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zdjęcia w chmurze Cloudinary, w bazie tylko linki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63931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Personalizacja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788920" y="363931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kolory i czcionki szablonu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0050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Monetyzacja i publikacja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2788920" y="4005072"/>
            <a:ext cx="5897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własny adres (np. pagecraft.pl/kowalski), publikacja po opłaceniu subskrypcji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Uzasadnienie wyboru tematu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4805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Małe firmy, freelancerzy i studenci potrzebują prostej strony z ofertą lub portfolio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Duże kreatory (np. Wix, WordPress) mają bardzo dużo opcji – do prostej strony to często za dużo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Strona one-page wystarcza, żeby pokazać ofertę i dać kontakt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Model SaaS: nic nie trzeba instalować, opłata w formie abonamentu</a:t>
            </a:r>
            <a:endParaRPr lang="en-US" sz="15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Temat obejmuje cały proces: frontend, backend, bazę danych i wdrożenie</a:t>
            </a:r>
            <a:endParaRPr lang="en-US" sz="1500" dirty="0"/>
          </a:p>
        </p:txBody>
      </p:sp>
      <p:pic>
        <p:nvPicPr>
          <p:cNvPr id="5" name="przyklad-strony" descr="Przykładowa strona one-page wygenerowana w kreatorz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0" y="1143000"/>
            <a:ext cx="3474720" cy="226771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212080" y="347472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Przykład strony one-page z kreatora (szablon Portfolio Minimal)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Narzędzia</a:t>
            </a:r>
            <a:endParaRPr lang="en-US" sz="3000" dirty="0"/>
          </a:p>
        </p:txBody>
      </p:sp>
      <p:sp>
        <p:nvSpPr>
          <p:cNvPr id="4" name="narzedzie-1"/>
          <p:cNvSpPr/>
          <p:nvPr/>
        </p:nvSpPr>
        <p:spPr>
          <a:xfrm>
            <a:off x="45720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React + Vite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interfejs użytkownika i kreator</a:t>
            </a:r>
            <a:endParaRPr lang="en-US" sz="1400" dirty="0"/>
          </a:p>
        </p:txBody>
      </p:sp>
      <p:sp>
        <p:nvSpPr>
          <p:cNvPr id="7" name="narzedzie-2"/>
          <p:cNvSpPr/>
          <p:nvPr/>
        </p:nvSpPr>
        <p:spPr>
          <a:xfrm>
            <a:off x="324612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42900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Node.js + Express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42900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API i logika biznesowa</a:t>
            </a:r>
            <a:endParaRPr lang="en-US" sz="1400" dirty="0"/>
          </a:p>
        </p:txBody>
      </p:sp>
      <p:sp>
        <p:nvSpPr>
          <p:cNvPr id="10" name="narzedzie-3"/>
          <p:cNvSpPr/>
          <p:nvPr/>
        </p:nvSpPr>
        <p:spPr>
          <a:xfrm>
            <a:off x="6035040" y="118872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417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PostgreSQL + Prisma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187452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baza danych i ORM</a:t>
            </a:r>
            <a:endParaRPr lang="en-US" sz="1400" dirty="0"/>
          </a:p>
        </p:txBody>
      </p:sp>
      <p:sp>
        <p:nvSpPr>
          <p:cNvPr id="13" name="narzedzie-4"/>
          <p:cNvSpPr/>
          <p:nvPr/>
        </p:nvSpPr>
        <p:spPr>
          <a:xfrm>
            <a:off x="45720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008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Cloudinary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przechowywanie zdjęć użytkowników</a:t>
            </a:r>
            <a:endParaRPr lang="en-US" sz="1400" dirty="0"/>
          </a:p>
        </p:txBody>
      </p:sp>
      <p:sp>
        <p:nvSpPr>
          <p:cNvPr id="16" name="narzedzie-5"/>
          <p:cNvSpPr/>
          <p:nvPr/>
        </p:nvSpPr>
        <p:spPr>
          <a:xfrm>
            <a:off x="324612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42900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Docker, Nginx, VPS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342900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wdrożenie, reverse proxy, SSL</a:t>
            </a:r>
            <a:endParaRPr lang="en-US" sz="1400" dirty="0"/>
          </a:p>
        </p:txBody>
      </p:sp>
      <p:sp>
        <p:nvSpPr>
          <p:cNvPr id="19" name="narzedzie-6"/>
          <p:cNvSpPr/>
          <p:nvPr/>
        </p:nvSpPr>
        <p:spPr>
          <a:xfrm>
            <a:off x="6035040" y="2880360"/>
            <a:ext cx="2606040" cy="1417320"/>
          </a:xfrm>
          <a:prstGeom prst="roundRect">
            <a:avLst>
              <a:gd name="adj" fmla="val 5161"/>
            </a:avLst>
          </a:prstGeom>
          <a:solidFill>
            <a:schemeClr val="bg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17920" y="310896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Git + GitHub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6217920" y="356616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kontrola wersji kodu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Architektura systemu</a:t>
            </a:r>
            <a:endParaRPr lang="en-US" sz="3000" dirty="0"/>
          </a:p>
        </p:txBody>
      </p:sp>
      <p:sp>
        <p:nvSpPr>
          <p:cNvPr id="4" name="warstwa-1"/>
          <p:cNvSpPr/>
          <p:nvPr/>
        </p:nvSpPr>
        <p:spPr>
          <a:xfrm>
            <a:off x="457200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Przeglądarka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React: kreator, panel konta</a:t>
            </a:r>
            <a:endParaRPr lang="en-US" sz="1200" dirty="0"/>
          </a:p>
        </p:txBody>
      </p:sp>
      <p:sp>
        <p:nvSpPr>
          <p:cNvPr id="7" name="strzalka-1"/>
          <p:cNvSpPr/>
          <p:nvPr/>
        </p:nvSpPr>
        <p:spPr>
          <a:xfrm>
            <a:off x="2286000" y="194310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8" name="warstwa-2"/>
          <p:cNvSpPr/>
          <p:nvPr/>
        </p:nvSpPr>
        <p:spPr>
          <a:xfrm>
            <a:off x="2606040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9" name="Text 6"/>
          <p:cNvSpPr txBox="1"/>
          <p:nvPr/>
        </p:nvSpPr>
        <p:spPr>
          <a:xfrm>
            <a:off x="260604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Nginx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697480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reverse proxy, SSL (planowane)</a:t>
            </a:r>
            <a:endParaRPr lang="en-US" sz="1200" dirty="0"/>
          </a:p>
        </p:txBody>
      </p:sp>
      <p:sp>
        <p:nvSpPr>
          <p:cNvPr id="11" name="strzalka-2"/>
          <p:cNvSpPr/>
          <p:nvPr/>
        </p:nvSpPr>
        <p:spPr>
          <a:xfrm>
            <a:off x="4434840" y="194310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2" name="warstwa-3"/>
          <p:cNvSpPr/>
          <p:nvPr/>
        </p:nvSpPr>
        <p:spPr>
          <a:xfrm>
            <a:off x="4754880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75488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Serwer API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Node.js + Express</a:t>
            </a:r>
            <a:endParaRPr lang="en-US" sz="1200" dirty="0"/>
          </a:p>
        </p:txBody>
      </p:sp>
      <p:sp>
        <p:nvSpPr>
          <p:cNvPr id="15" name="strzalka-3"/>
          <p:cNvSpPr/>
          <p:nvPr/>
        </p:nvSpPr>
        <p:spPr>
          <a:xfrm>
            <a:off x="6583680" y="1943100"/>
            <a:ext cx="27432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headEnd type="triangle"/>
            <a:tailEnd type="triangle"/>
          </a:ln>
        </p:spPr>
      </p:sp>
      <p:sp>
        <p:nvSpPr>
          <p:cNvPr id="16" name="warstwa-4"/>
          <p:cNvSpPr/>
          <p:nvPr/>
        </p:nvSpPr>
        <p:spPr>
          <a:xfrm>
            <a:off x="6903720" y="1417320"/>
            <a:ext cx="1783080" cy="1051560"/>
          </a:xfrm>
          <a:prstGeom prst="roundRect">
            <a:avLst>
              <a:gd name="adj" fmla="val 6957"/>
            </a:avLst>
          </a:prstGeom>
          <a:solidFill>
            <a:schemeClr val="bg2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903720" y="152704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PostgreSQL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6995160" y="1892808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użytkownicy, strony (JSON), sesje</a:t>
            </a:r>
            <a:endParaRPr lang="en-US" sz="1200" dirty="0"/>
          </a:p>
        </p:txBody>
      </p:sp>
      <p:sp>
        <p:nvSpPr>
          <p:cNvPr id="19" name="cloudinary"/>
          <p:cNvSpPr/>
          <p:nvPr/>
        </p:nvSpPr>
        <p:spPr>
          <a:xfrm>
            <a:off x="457200" y="3154680"/>
            <a:ext cx="1783080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 w="19050">
            <a:solidFill>
              <a:schemeClr val="accent3"/>
            </a:solidFill>
            <a:prstDash val="dash"/>
          </a:ln>
        </p:spPr>
      </p:sp>
      <p:sp>
        <p:nvSpPr>
          <p:cNvPr id="20" name="Text 17"/>
          <p:cNvSpPr txBox="1"/>
          <p:nvPr/>
        </p:nvSpPr>
        <p:spPr>
          <a:xfrm>
            <a:off x="457200" y="32186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Cloudinary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358444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zdjęcia (planowane)</a:t>
            </a:r>
            <a:endParaRPr lang="en-US" sz="1200" dirty="0"/>
          </a:p>
        </p:txBody>
      </p:sp>
      <p:sp>
        <p:nvSpPr>
          <p:cNvPr id="22" name="strzalka-zdjecia"/>
          <p:cNvSpPr/>
          <p:nvPr/>
        </p:nvSpPr>
        <p:spPr>
          <a:xfrm>
            <a:off x="1348740" y="2514600"/>
            <a:ext cx="0" cy="594360"/>
          </a:xfrm>
          <a:prstGeom prst="line">
            <a:avLst/>
          </a:prstGeom>
          <a:noFill/>
          <a:ln w="19050">
            <a:solidFill>
              <a:schemeClr val="tx1"/>
            </a:solidFill>
            <a:prstDash val="solid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2606040" y="3108960"/>
            <a:ext cx="60807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Dane strony (teksty, kolory, linki do zdjęć) zapisywane jako jeden obiekt JSON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Serwer sprawdza logowanie i właściciela strony przed każdym zapisem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Linia przerywana = elementy jeszcze niewdrożone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Postępy prac – podsumowanie</a:t>
            </a:r>
            <a:endParaRPr lang="en-US" sz="3000" dirty="0"/>
          </a:p>
        </p:txBody>
      </p:sp>
      <p:sp>
        <p:nvSpPr>
          <p:cNvPr id="4" name="kolumna-1"/>
          <p:cNvSpPr/>
          <p:nvPr/>
        </p:nvSpPr>
        <p:spPr>
          <a:xfrm>
            <a:off x="45720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znacznik-1"/>
          <p:cNvSpPr/>
          <p:nvPr/>
        </p:nvSpPr>
        <p:spPr>
          <a:xfrm>
            <a:off x="685800" y="1298448"/>
            <a:ext cx="256032" cy="256032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51560" y="12070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Zrobione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Rejestracja i logowanie (sesje, hashowanie haseł)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Panel konta: strony, plan, ustawienia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Kreator z podglądem na żywo (komputer / telefon)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Szablon Portfolio Minimal z wyborem kolorów i czcionek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Zapisywanie szkiców w bazie (autozapis)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API backendu i baza danych PostgreSQL</a:t>
            </a:r>
            <a:endParaRPr lang="en-US" sz="1400" dirty="0"/>
          </a:p>
        </p:txBody>
      </p:sp>
      <p:sp>
        <p:nvSpPr>
          <p:cNvPr id="8" name="kolumna-2"/>
          <p:cNvSpPr/>
          <p:nvPr/>
        </p:nvSpPr>
        <p:spPr>
          <a:xfrm>
            <a:off x="4709160" y="1097280"/>
            <a:ext cx="3977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znacznik-2"/>
          <p:cNvSpPr/>
          <p:nvPr/>
        </p:nvSpPr>
        <p:spPr>
          <a:xfrm>
            <a:off x="4937760" y="1298448"/>
            <a:ext cx="256032" cy="256032"/>
          </a:xfrm>
          <a:prstGeom prst="ellipse">
            <a:avLst/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120700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Do zrobienia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4892040" y="1783080"/>
            <a:ext cx="3657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Galeria szablonów i kolejne szablony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Wgrywanie zdjęć (Cloudinary)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Rezerwacja adresu i publikacja strony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Płatności i subskrypcje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Wdrożenie na serwer (Docker, Nginx, SSL)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Testy i dokumentacja pracy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Postępy: konta użytkowników</a:t>
            </a:r>
            <a:endParaRPr lang="en-US" sz="3000" dirty="0"/>
          </a:p>
        </p:txBody>
      </p:sp>
      <p:pic>
        <p:nvPicPr>
          <p:cNvPr id="4" name="logowanie" descr="Okno logowani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3977640" cy="2487168"/>
          </a:xfrm>
          <a:prstGeom prst="rect">
            <a:avLst/>
          </a:prstGeom>
        </p:spPr>
      </p:pic>
      <p:pic>
        <p:nvPicPr>
          <p:cNvPr id="5" name="panel-konta" descr="Panel konta z listą str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097280"/>
            <a:ext cx="3977640" cy="248716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457200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Logowanie i rejestracja w oknie na stronie głównej</a:t>
            </a:r>
            <a:endParaRPr lang="en-US" sz="1100" dirty="0"/>
          </a:p>
        </p:txBody>
      </p:sp>
      <p:sp>
        <p:nvSpPr>
          <p:cNvPr id="7" name="Text 2"/>
          <p:cNvSpPr txBox="1"/>
          <p:nvPr/>
        </p:nvSpPr>
        <p:spPr>
          <a:xfrm>
            <a:off x="4709160" y="36393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Panel konta: lista stron, plan, ustawienia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457200" y="40690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Hasła hashowane algorytmem bcrypt · sesja zapisana w bazie danych · limit prób logowania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Postępy: kreator strony</a:t>
            </a:r>
            <a:endParaRPr lang="en-US" sz="3000" dirty="0"/>
          </a:p>
        </p:txBody>
      </p:sp>
      <p:pic>
        <p:nvPicPr>
          <p:cNvPr id="4" name="kreator" descr="Kreator strony: formularz i podgląd na żyw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5486400" cy="3429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172200" y="1097280"/>
            <a:ext cx="2514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Formularz po lewej, podgląd po prawej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Formularz tworzony z opisu pól szablonu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Każda zmiana od razu widoczna w podglądzie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Widok komputer / telefon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Autozapis sekundę po ostatniej zmianie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Postępy: backend i baza danych</a:t>
            </a:r>
            <a:endParaRPr lang="en-US" sz="3000" dirty="0"/>
          </a:p>
        </p:txBody>
      </p:sp>
      <p:sp>
        <p:nvSpPr>
          <p:cNvPr id="4" name="tabela-users"/>
          <p:cNvSpPr/>
          <p:nvPr/>
        </p:nvSpPr>
        <p:spPr>
          <a:xfrm>
            <a:off x="457200" y="132588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325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users</a:t>
            </a:r>
            <a:endParaRPr lang="en-US" sz="1400" dirty="0"/>
          </a:p>
        </p:txBody>
      </p:sp>
      <p:sp>
        <p:nvSpPr>
          <p:cNvPr id="6" name="tabela-pages"/>
          <p:cNvSpPr/>
          <p:nvPr/>
        </p:nvSpPr>
        <p:spPr>
          <a:xfrm>
            <a:off x="2560320" y="132588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560320" y="132588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pages</a:t>
            </a:r>
            <a:endParaRPr lang="en-US" sz="1400" dirty="0"/>
          </a:p>
        </p:txBody>
      </p:sp>
      <p:sp>
        <p:nvSpPr>
          <p:cNvPr id="8" name="tabela-templates"/>
          <p:cNvSpPr/>
          <p:nvPr/>
        </p:nvSpPr>
        <p:spPr>
          <a:xfrm>
            <a:off x="2560320" y="237744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56032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templates</a:t>
            </a:r>
            <a:endParaRPr lang="en-US" sz="1400" dirty="0"/>
          </a:p>
        </p:txBody>
      </p:sp>
      <p:sp>
        <p:nvSpPr>
          <p:cNvPr id="10" name="tabela-subscriptions"/>
          <p:cNvSpPr/>
          <p:nvPr/>
        </p:nvSpPr>
        <p:spPr>
          <a:xfrm>
            <a:off x="457200" y="237744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subscriptions</a:t>
            </a:r>
            <a:endParaRPr lang="en-US" sz="1400" dirty="0"/>
          </a:p>
        </p:txBody>
      </p:sp>
      <p:sp>
        <p:nvSpPr>
          <p:cNvPr id="12" name="tabela-plans"/>
          <p:cNvSpPr/>
          <p:nvPr/>
        </p:nvSpPr>
        <p:spPr>
          <a:xfrm>
            <a:off x="457200" y="342900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plans</a:t>
            </a:r>
            <a:endParaRPr lang="en-US" sz="1400" dirty="0"/>
          </a:p>
        </p:txBody>
      </p:sp>
      <p:sp>
        <p:nvSpPr>
          <p:cNvPr id="14" name="tabela-session"/>
          <p:cNvSpPr/>
          <p:nvPr/>
        </p:nvSpPr>
        <p:spPr>
          <a:xfrm>
            <a:off x="2560320" y="3429000"/>
            <a:ext cx="1554480" cy="4572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15875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60320" y="34290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session</a:t>
            </a:r>
            <a:endParaRPr lang="en-US" sz="1400" dirty="0"/>
          </a:p>
        </p:txBody>
      </p:sp>
      <p:sp>
        <p:nvSpPr>
          <p:cNvPr id="16" name="rel-users-pages"/>
          <p:cNvSpPr/>
          <p:nvPr/>
        </p:nvSpPr>
        <p:spPr>
          <a:xfrm>
            <a:off x="2011680" y="1554480"/>
            <a:ext cx="548640" cy="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7" name="rel-pages-templates"/>
          <p:cNvSpPr/>
          <p:nvPr/>
        </p:nvSpPr>
        <p:spPr>
          <a:xfrm>
            <a:off x="3337560" y="1783080"/>
            <a:ext cx="0" cy="5943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8" name="rel-users-subscriptions"/>
          <p:cNvSpPr/>
          <p:nvPr/>
        </p:nvSpPr>
        <p:spPr>
          <a:xfrm>
            <a:off x="1234440" y="1783080"/>
            <a:ext cx="0" cy="5943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19" name="rel-subscriptions-plans"/>
          <p:cNvSpPr/>
          <p:nvPr/>
        </p:nvSpPr>
        <p:spPr>
          <a:xfrm>
            <a:off x="1234440" y="2834640"/>
            <a:ext cx="0" cy="594360"/>
          </a:xfrm>
          <a:prstGeom prst="line">
            <a:avLst/>
          </a:prstGeom>
          <a:noFill/>
          <a:ln w="15875">
            <a:solidFill>
              <a:schemeClr val="accent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57200" y="4069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Model danych (PostgreSQL)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572000" y="11887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API (Express)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4572000" y="1691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/api/auth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806440" y="1691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rejestracja, logowanie, wylogowanie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0" y="219456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/api/account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5806440" y="219456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dane konta, e-mail, hasło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0" y="26974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/api/pages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5806440" y="269748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tworzenie, odczyt, zapis i usuwanie szkiców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4572000" y="320040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/api/public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806440" y="320040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opublikowane strony</a:t>
            </a:r>
            <a:endParaRPr lang="en-US" sz="1400" dirty="0"/>
          </a:p>
        </p:txBody>
      </p:sp>
      <p:sp>
        <p:nvSpPr>
          <p:cNvPr id="30" name="wlasciciel"/>
          <p:cNvSpPr/>
          <p:nvPr/>
        </p:nvSpPr>
        <p:spPr>
          <a:xfrm>
            <a:off x="4572000" y="3977640"/>
            <a:ext cx="4114800" cy="54864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754880" y="39776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Szkic widzi i edytuje tylko jego właściciel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Plan dalszych prac</a:t>
            </a:r>
            <a:endParaRPr lang="en-US" sz="3000" dirty="0"/>
          </a:p>
        </p:txBody>
      </p:sp>
      <p:sp>
        <p:nvSpPr>
          <p:cNvPr id="4" name="os-czasu"/>
          <p:cNvSpPr/>
          <p:nvPr/>
        </p:nvSpPr>
        <p:spPr>
          <a:xfrm>
            <a:off x="1143000" y="1874520"/>
            <a:ext cx="685800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5" name="krok-1"/>
          <p:cNvSpPr/>
          <p:nvPr/>
        </p:nvSpPr>
        <p:spPr>
          <a:xfrm>
            <a:off x="8686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Galeria szablonów</a:t>
            </a:r>
            <a:endParaRPr lang="en-US" sz="1400" dirty="0"/>
          </a:p>
        </p:txBody>
      </p:sp>
      <p:sp>
        <p:nvSpPr>
          <p:cNvPr id="8" name="krok-2"/>
          <p:cNvSpPr/>
          <p:nvPr/>
        </p:nvSpPr>
        <p:spPr>
          <a:xfrm>
            <a:off x="22402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2402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8562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Zdjęcia (Cloudinary)</a:t>
            </a:r>
            <a:endParaRPr lang="en-US" sz="1400" dirty="0"/>
          </a:p>
        </p:txBody>
      </p:sp>
      <p:sp>
        <p:nvSpPr>
          <p:cNvPr id="11" name="krok-3"/>
          <p:cNvSpPr/>
          <p:nvPr/>
        </p:nvSpPr>
        <p:spPr>
          <a:xfrm>
            <a:off x="36118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118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2278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Publikacja pod własnym adresem</a:t>
            </a:r>
            <a:endParaRPr lang="en-US" sz="1400" dirty="0"/>
          </a:p>
        </p:txBody>
      </p:sp>
      <p:sp>
        <p:nvSpPr>
          <p:cNvPr id="14" name="krok-4"/>
          <p:cNvSpPr/>
          <p:nvPr/>
        </p:nvSpPr>
        <p:spPr>
          <a:xfrm>
            <a:off x="49834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834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45994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Płatności (Stripe)</a:t>
            </a:r>
            <a:endParaRPr lang="en-US" sz="1400" dirty="0"/>
          </a:p>
        </p:txBody>
      </p:sp>
      <p:sp>
        <p:nvSpPr>
          <p:cNvPr id="17" name="krok-5"/>
          <p:cNvSpPr/>
          <p:nvPr/>
        </p:nvSpPr>
        <p:spPr>
          <a:xfrm>
            <a:off x="63550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3550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19" name="Text 16"/>
          <p:cNvSpPr txBox="1"/>
          <p:nvPr/>
        </p:nvSpPr>
        <p:spPr>
          <a:xfrm>
            <a:off x="59710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Wdrożenie (Docker, VPS)</a:t>
            </a:r>
            <a:endParaRPr lang="en-US" sz="1400" dirty="0"/>
          </a:p>
        </p:txBody>
      </p:sp>
      <p:sp>
        <p:nvSpPr>
          <p:cNvPr id="20" name="krok-6"/>
          <p:cNvSpPr/>
          <p:nvPr/>
        </p:nvSpPr>
        <p:spPr>
          <a:xfrm>
            <a:off x="7726680" y="16002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2668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22" name="Text 19"/>
          <p:cNvSpPr txBox="1"/>
          <p:nvPr/>
        </p:nvSpPr>
        <p:spPr>
          <a:xfrm>
            <a:off x="7342632" y="2286000"/>
            <a:ext cx="1316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Testy i dokumentacja</a:t>
            </a:r>
            <a:endParaRPr lang="en-US" sz="1400" dirty="0"/>
          </a:p>
        </p:txBody>
      </p:sp>
      <p:sp>
        <p:nvSpPr>
          <p:cNvPr id="23" name="dokumentacja"/>
          <p:cNvSpPr/>
          <p:nvPr/>
        </p:nvSpPr>
        <p:spPr>
          <a:xfrm>
            <a:off x="457200" y="356616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85800" y="356616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Dokumentację pracy piszę na bieżąco – po każdym etapie notatki, diagramy i zrzuty ekranu.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16459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</a:rPr>
              <a:t>Dziękuję za uwagę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2514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</a:rPr>
              <a:t>Pytania?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Jakub Bednarek · 251125@edu.p.lodz.pl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minarium PageCraft">
  <a:themeElements>
    <a:clrScheme name="Seminarium PageCraft">
      <a:dk1>
        <a:srgbClr val="222222"/>
      </a:dk1>
      <a:lt1>
        <a:srgbClr val="FFFFFF"/>
      </a:lt1>
      <a:dk2>
        <a:srgbClr val="8B1E2D"/>
      </a:dk2>
      <a:lt2>
        <a:srgbClr val="F2F2F2"/>
      </a:lt2>
      <a:accent1>
        <a:srgbClr val="8B1E2D"/>
      </a:accent1>
      <a:accent2>
        <a:srgbClr val="2E7D4F"/>
      </a:accent2>
      <a:accent3>
        <a:srgbClr val="6B7280"/>
      </a:accent3>
      <a:accent4>
        <a:srgbClr val="B15F2C"/>
      </a:accent4>
      <a:accent5>
        <a:srgbClr val="1F4E79"/>
      </a:accent5>
      <a:accent6>
        <a:srgbClr val="D9D9D9"/>
      </a:accent6>
      <a:hlink>
        <a:srgbClr val="1F4E79"/>
      </a:hlink>
      <a:folHlink>
        <a:srgbClr val="6B7280"/>
      </a:folHlink>
    </a:clrScheme>
    <a:fontScheme name="Seminarium PageCraf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Postępy pracy inżynierskiej – PageCraft</dc:title>
  <dc:subject>PptxGenJS Presentation</dc:subject>
  <dc:creator>Jakub Bednarek</dc:creator>
  <cp:lastModifiedBy>Jakub Bednarek</cp:lastModifiedBy>
  <cp:revision>1</cp:revision>
  <dcterms:created xsi:type="dcterms:W3CDTF">2026-10-28T19:51:47Z</dcterms:created>
  <dcterms:modified xsi:type="dcterms:W3CDTF">2026-10-28T19:51:47Z</dcterms:modified>
</cp:coreProperties>
</file>